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Funnel Sans" panose="020B0604020202020204" charset="0"/>
      <p:regular r:id="rId12"/>
    </p:embeddedFont>
    <p:embeddedFont>
      <p:font typeface="Mona Sans Semi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3387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8.png"/><Relationship Id="rId5" Type="http://schemas.openxmlformats.org/officeDocument/2006/relationships/image" Target="../media/image37.svg"/><Relationship Id="rId4" Type="http://schemas.openxmlformats.org/officeDocument/2006/relationships/image" Target="../media/image36.png"/><Relationship Id="rId9" Type="http://schemas.openxmlformats.org/officeDocument/2006/relationships/image" Target="../media/image4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954411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Brazilian E-Commerce Data Analysis (Olist Dataset)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42091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 Collaborative Data Analysis Project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620351" y="5294114"/>
            <a:ext cx="72162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Presented by the Cross-Functional Data Team: SQL, Python, Power BI, and Streamlit Experts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280190" y="5038963"/>
            <a:ext cx="30480" cy="1236107"/>
          </a:xfrm>
          <a:prstGeom prst="rect">
            <a:avLst/>
          </a:prstGeom>
          <a:solidFill>
            <a:srgbClr val="373B4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577" y="481251"/>
            <a:ext cx="2187773" cy="273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Chapter 1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612577" y="1017270"/>
            <a:ext cx="11116032" cy="754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900"/>
              </a:lnSpc>
              <a:buNone/>
            </a:pPr>
            <a:r>
              <a:rPr lang="en-US" sz="47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Project Introduction: The Olist Dataset</a:t>
            </a:r>
            <a:endParaRPr lang="en-US" sz="4750" dirty="0"/>
          </a:p>
        </p:txBody>
      </p:sp>
      <p:sp>
        <p:nvSpPr>
          <p:cNvPr id="4" name="Text 2"/>
          <p:cNvSpPr/>
          <p:nvPr/>
        </p:nvSpPr>
        <p:spPr>
          <a:xfrm>
            <a:off x="612577" y="2192179"/>
            <a:ext cx="7872293" cy="840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Olist is a major Brazilian marketplace connecting small businesses to customers across the country. Our analysis focuses on understanding the dynamics of this rapidly growing e-commerce environment.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12577" y="3229094"/>
            <a:ext cx="3848576" cy="1124307"/>
          </a:xfrm>
          <a:prstGeom prst="roundRect">
            <a:avLst>
              <a:gd name="adj" fmla="val 9760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A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9717" y="3229094"/>
            <a:ext cx="91440" cy="1124307"/>
          </a:xfrm>
          <a:prstGeom prst="roundRect">
            <a:avLst>
              <a:gd name="adj" fmla="val 80391"/>
            </a:avLst>
          </a:prstGeom>
          <a:solidFill>
            <a:srgbClr val="373B48"/>
          </a:solidFill>
          <a:ln/>
        </p:spPr>
      </p:sp>
      <p:sp>
        <p:nvSpPr>
          <p:cNvPr id="7" name="Text 5"/>
          <p:cNvSpPr/>
          <p:nvPr/>
        </p:nvSpPr>
        <p:spPr>
          <a:xfrm>
            <a:off x="879038" y="3426976"/>
            <a:ext cx="2187773" cy="273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Dataset Source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79038" y="3875484"/>
            <a:ext cx="3384233" cy="28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Kaggle Public Dataset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636175" y="3229094"/>
            <a:ext cx="3848695" cy="1124307"/>
          </a:xfrm>
          <a:prstGeom prst="roundRect">
            <a:avLst>
              <a:gd name="adj" fmla="val 9760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A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3315" y="3229094"/>
            <a:ext cx="91440" cy="1124307"/>
          </a:xfrm>
          <a:prstGeom prst="roundRect">
            <a:avLst>
              <a:gd name="adj" fmla="val 80391"/>
            </a:avLst>
          </a:prstGeom>
          <a:solidFill>
            <a:srgbClr val="373B48"/>
          </a:solidFill>
          <a:ln/>
        </p:spPr>
      </p:sp>
      <p:sp>
        <p:nvSpPr>
          <p:cNvPr id="11" name="Text 9"/>
          <p:cNvSpPr/>
          <p:nvPr/>
        </p:nvSpPr>
        <p:spPr>
          <a:xfrm>
            <a:off x="4902637" y="3426976"/>
            <a:ext cx="2187773" cy="273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Data Scope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902637" y="3875484"/>
            <a:ext cx="3384352" cy="28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100,000+ orders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2577" y="4528423"/>
            <a:ext cx="3848576" cy="669250"/>
          </a:xfrm>
          <a:prstGeom prst="roundRect">
            <a:avLst>
              <a:gd name="adj" fmla="val 16396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AC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9717" y="4528423"/>
            <a:ext cx="91440" cy="669250"/>
          </a:xfrm>
          <a:prstGeom prst="roundRect">
            <a:avLst>
              <a:gd name="adj" fmla="val 80391"/>
            </a:avLst>
          </a:prstGeom>
          <a:solidFill>
            <a:srgbClr val="373B48"/>
          </a:solidFill>
          <a:ln/>
        </p:spPr>
      </p:sp>
      <p:sp>
        <p:nvSpPr>
          <p:cNvPr id="15" name="Text 13"/>
          <p:cNvSpPr/>
          <p:nvPr/>
        </p:nvSpPr>
        <p:spPr>
          <a:xfrm>
            <a:off x="879038" y="4726305"/>
            <a:ext cx="2581632" cy="273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Time Frame 2016 to 2018</a:t>
            </a:r>
            <a:endParaRPr lang="en-US" sz="17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9448" y="2231469"/>
            <a:ext cx="5105876" cy="510587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12577" y="7730966"/>
            <a:ext cx="13405247" cy="28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Project Goal:</a:t>
            </a:r>
            <a:r>
              <a:rPr lang="en-US" sz="13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Explore e-commerce insights, customer behavior, and key operational metrics (payments, delivery, satisfaction) to drive strategic decision-making.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89052"/>
            <a:ext cx="10428208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Our Collaborative Workflow</a:t>
            </a:r>
            <a:endParaRPr lang="en-US" sz="6150" dirty="0"/>
          </a:p>
        </p:txBody>
      </p:sp>
      <p:sp>
        <p:nvSpPr>
          <p:cNvPr id="3" name="Text 1"/>
          <p:cNvSpPr/>
          <p:nvPr/>
        </p:nvSpPr>
        <p:spPr>
          <a:xfrm>
            <a:off x="793790" y="242089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This project leveraged four specialized data tools, each playing a crucial role in the data pipeline from ingestion to deployment.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038951"/>
            <a:ext cx="6407944" cy="680442"/>
          </a:xfrm>
          <a:prstGeom prst="roundRect">
            <a:avLst>
              <a:gd name="adj" fmla="val 480029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27621" y="3208973"/>
            <a:ext cx="340162" cy="3401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3946207"/>
            <a:ext cx="31547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Data Foundation (SQL)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4436626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Structured data for reliability.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28548" y="3038951"/>
            <a:ext cx="6408063" cy="680442"/>
          </a:xfrm>
          <a:prstGeom prst="roundRect">
            <a:avLst>
              <a:gd name="adj" fmla="val 480029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62498" y="3208973"/>
            <a:ext cx="340162" cy="34016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655362" y="39462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Deep Dive (Python)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7655362" y="4436626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Exploratory Data Analysis (EDA).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793790" y="5253157"/>
            <a:ext cx="6407944" cy="680442"/>
          </a:xfrm>
          <a:prstGeom prst="roundRect">
            <a:avLst>
              <a:gd name="adj" fmla="val 480029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27621" y="5423178"/>
            <a:ext cx="340162" cy="34016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20604" y="6160413"/>
            <a:ext cx="453449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Business Visualization (Power BI)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1020604" y="6650831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Interactive reporting for stakeholders.</a:t>
            </a:r>
            <a:endParaRPr lang="en-US" sz="1750" dirty="0"/>
          </a:p>
        </p:txBody>
      </p:sp>
      <p:sp>
        <p:nvSpPr>
          <p:cNvPr id="16" name="Shape 11"/>
          <p:cNvSpPr/>
          <p:nvPr/>
        </p:nvSpPr>
        <p:spPr>
          <a:xfrm>
            <a:off x="7428548" y="5253157"/>
            <a:ext cx="6408063" cy="680442"/>
          </a:xfrm>
          <a:prstGeom prst="roundRect">
            <a:avLst>
              <a:gd name="adj" fmla="val 480029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62498" y="5423178"/>
            <a:ext cx="340162" cy="34016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655362" y="6160413"/>
            <a:ext cx="31888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Deployment (Streamlit)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7655362" y="6650831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Interactive web application for user exploration.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1266" y="472440"/>
            <a:ext cx="2147530" cy="268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Tool Focus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601266" y="998577"/>
            <a:ext cx="10818138" cy="740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SQL: Data Extraction and Preparation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601266" y="2151578"/>
            <a:ext cx="7196733" cy="54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initial phase involved standardizing the raw data from various tables to create a clean, unified dataset ready for deeper analysis.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1266" y="2894409"/>
            <a:ext cx="7196733" cy="1760577"/>
          </a:xfrm>
          <a:prstGeom prst="roundRect">
            <a:avLst>
              <a:gd name="adj" fmla="val 4099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0574" y="3073718"/>
            <a:ext cx="515302" cy="515303"/>
          </a:xfrm>
          <a:prstGeom prst="roundRect">
            <a:avLst>
              <a:gd name="adj" fmla="val 17743160"/>
            </a:avLst>
          </a:prstGeom>
          <a:solidFill>
            <a:srgbClr val="373B48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2258" y="3215283"/>
            <a:ext cx="231934" cy="23193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80574" y="3760708"/>
            <a:ext cx="2147530" cy="268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Data Cleaning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80574" y="4200882"/>
            <a:ext cx="6838117" cy="274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Handling null values and standardizing date formats.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01266" y="4826675"/>
            <a:ext cx="7196733" cy="1760577"/>
          </a:xfrm>
          <a:prstGeom prst="roundRect">
            <a:avLst>
              <a:gd name="adj" fmla="val 4099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80574" y="5005983"/>
            <a:ext cx="515302" cy="515303"/>
          </a:xfrm>
          <a:prstGeom prst="roundRect">
            <a:avLst>
              <a:gd name="adj" fmla="val 17743160"/>
            </a:avLst>
          </a:prstGeom>
          <a:solidFill>
            <a:srgbClr val="373B48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2258" y="5147548"/>
            <a:ext cx="231934" cy="23193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80574" y="5692973"/>
            <a:ext cx="2147530" cy="268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Output Ready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780574" y="6133148"/>
            <a:ext cx="6838117" cy="274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Cleaned tables serving as the single source of truth.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601266" y="6780490"/>
            <a:ext cx="7196733" cy="274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Example Queries:</a:t>
            </a:r>
            <a:r>
              <a:rPr lang="en-US" sz="13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Calculating total order volume and identifying delivery delay frequencies.</a:t>
            </a:r>
            <a:endParaRPr lang="en-US" sz="135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4718" y="2190274"/>
            <a:ext cx="5812036" cy="58120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043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9727" y="526137"/>
            <a:ext cx="2391847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Tool Focus</a:t>
            </a:r>
            <a:endParaRPr lang="en-US" sz="1850" dirty="0"/>
          </a:p>
        </p:txBody>
      </p:sp>
      <p:sp>
        <p:nvSpPr>
          <p:cNvPr id="4" name="Text 1"/>
          <p:cNvSpPr/>
          <p:nvPr/>
        </p:nvSpPr>
        <p:spPr>
          <a:xfrm>
            <a:off x="669727" y="1112044"/>
            <a:ext cx="7804547" cy="1650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450"/>
              </a:lnSpc>
              <a:buNone/>
            </a:pPr>
            <a:r>
              <a:rPr lang="en-US" sz="51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Python: Exploratory Data Analysis (EDA)</a:t>
            </a:r>
            <a:endParaRPr lang="en-US" sz="5150" dirty="0"/>
          </a:p>
        </p:txBody>
      </p:sp>
      <p:sp>
        <p:nvSpPr>
          <p:cNvPr id="5" name="Text 2"/>
          <p:cNvSpPr/>
          <p:nvPr/>
        </p:nvSpPr>
        <p:spPr>
          <a:xfrm>
            <a:off x="669727" y="3049429"/>
            <a:ext cx="7804547" cy="61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Using </a:t>
            </a:r>
            <a:r>
              <a:rPr lang="en-US" sz="150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Pandas</a:t>
            </a:r>
            <a:r>
              <a:rPr lang="en-US" sz="15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for manipulation and </a:t>
            </a:r>
            <a:r>
              <a:rPr lang="en-US" sz="150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Matplotlib/Seaborn</a:t>
            </a:r>
            <a:r>
              <a:rPr lang="en-US" sz="15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for visualization, we uncovered crucial temporal trends and operational correlations.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69727" y="3876913"/>
            <a:ext cx="7804547" cy="1148239"/>
          </a:xfrm>
          <a:prstGeom prst="roundRect">
            <a:avLst>
              <a:gd name="adj" fmla="val 6999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AC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92587" y="3899773"/>
            <a:ext cx="765334" cy="1102519"/>
          </a:xfrm>
          <a:prstGeom prst="roundRect">
            <a:avLst>
              <a:gd name="adj" fmla="val 6917"/>
            </a:avLst>
          </a:prstGeom>
          <a:solidFill>
            <a:srgbClr val="E2E4E9"/>
          </a:solidFill>
          <a:ln/>
        </p:spPr>
      </p:sp>
      <p:sp>
        <p:nvSpPr>
          <p:cNvPr id="8" name="Text 5"/>
          <p:cNvSpPr/>
          <p:nvPr/>
        </p:nvSpPr>
        <p:spPr>
          <a:xfrm>
            <a:off x="927973" y="4271605"/>
            <a:ext cx="286941" cy="358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1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1649254" y="4091107"/>
            <a:ext cx="3561159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Data cleaning &amp; Preprocessing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1649254" y="4504849"/>
            <a:ext cx="6802160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69727" y="5216485"/>
            <a:ext cx="7804547" cy="1148239"/>
          </a:xfrm>
          <a:prstGeom prst="roundRect">
            <a:avLst>
              <a:gd name="adj" fmla="val 6999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AC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92587" y="5239345"/>
            <a:ext cx="765334" cy="1102519"/>
          </a:xfrm>
          <a:prstGeom prst="roundRect">
            <a:avLst>
              <a:gd name="adj" fmla="val 6917"/>
            </a:avLst>
          </a:prstGeom>
          <a:solidFill>
            <a:srgbClr val="E2E4E9"/>
          </a:solidFill>
          <a:ln/>
        </p:spPr>
      </p:sp>
      <p:sp>
        <p:nvSpPr>
          <p:cNvPr id="13" name="Text 10"/>
          <p:cNvSpPr/>
          <p:nvPr/>
        </p:nvSpPr>
        <p:spPr>
          <a:xfrm>
            <a:off x="927973" y="5611177"/>
            <a:ext cx="286941" cy="358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2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1649254" y="5430679"/>
            <a:ext cx="2391847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Aggregations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1649254" y="5844421"/>
            <a:ext cx="6802160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69727" y="6556057"/>
            <a:ext cx="7804547" cy="1148239"/>
          </a:xfrm>
          <a:prstGeom prst="roundRect">
            <a:avLst>
              <a:gd name="adj" fmla="val 6999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AC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92587" y="6578918"/>
            <a:ext cx="765334" cy="1102519"/>
          </a:xfrm>
          <a:prstGeom prst="roundRect">
            <a:avLst>
              <a:gd name="adj" fmla="val 6917"/>
            </a:avLst>
          </a:prstGeom>
          <a:solidFill>
            <a:srgbClr val="E2E4E9"/>
          </a:solidFill>
          <a:ln/>
        </p:spPr>
      </p:sp>
      <p:sp>
        <p:nvSpPr>
          <p:cNvPr id="18" name="Text 15"/>
          <p:cNvSpPr/>
          <p:nvPr/>
        </p:nvSpPr>
        <p:spPr>
          <a:xfrm>
            <a:off x="927973" y="6950750"/>
            <a:ext cx="286941" cy="358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3</a:t>
            </a:r>
            <a:endParaRPr lang="en-US" sz="2250" dirty="0"/>
          </a:p>
        </p:txBody>
      </p:sp>
      <p:sp>
        <p:nvSpPr>
          <p:cNvPr id="19" name="Text 16"/>
          <p:cNvSpPr/>
          <p:nvPr/>
        </p:nvSpPr>
        <p:spPr>
          <a:xfrm>
            <a:off x="1649254" y="6770251"/>
            <a:ext cx="2391847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Visualizations</a:t>
            </a:r>
            <a:endParaRPr lang="en-US" sz="1850" dirty="0"/>
          </a:p>
        </p:txBody>
      </p:sp>
      <p:sp>
        <p:nvSpPr>
          <p:cNvPr id="20" name="Text 17"/>
          <p:cNvSpPr/>
          <p:nvPr/>
        </p:nvSpPr>
        <p:spPr>
          <a:xfrm>
            <a:off x="1649254" y="7183993"/>
            <a:ext cx="6802160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8148" y="328613"/>
            <a:ext cx="1493639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Tool Focus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18148" y="694492"/>
            <a:ext cx="6644283" cy="515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0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Power BI: Stakeholder Dashboard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18148" y="1388983"/>
            <a:ext cx="13794105" cy="191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We developed an interactive, visual dashboard to provide business stakeholders with accessible and actionable insights.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148" y="1714619"/>
            <a:ext cx="8431887" cy="4861917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8148" y="6710958"/>
            <a:ext cx="358378" cy="35837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25830" y="6811685"/>
            <a:ext cx="1493639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Sales Overview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925830" y="7070050"/>
            <a:ext cx="6314718" cy="191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Monthly and categorical sales performance.</a:t>
            </a:r>
            <a:endParaRPr lang="en-US" sz="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89852" y="6710958"/>
            <a:ext cx="358378" cy="35837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897535" y="6811685"/>
            <a:ext cx="1493639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Payment Analysis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7897535" y="7070050"/>
            <a:ext cx="6314718" cy="191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Distribution and volume across various payment methods.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418148" y="7395686"/>
            <a:ext cx="13794105" cy="507563"/>
          </a:xfrm>
          <a:prstGeom prst="roundRect">
            <a:avLst>
              <a:gd name="adj" fmla="val 9888"/>
            </a:avLst>
          </a:prstGeom>
          <a:solidFill>
            <a:srgbClr val="D4D6DE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7567" y="7577495"/>
            <a:ext cx="149304" cy="1194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06291" y="7544872"/>
            <a:ext cx="13286542" cy="191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Value Add:</a:t>
            </a:r>
            <a:r>
              <a:rPr lang="en-US" sz="9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The dashboard features KPIs and customizable filters for real-time insight generation.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7596" y="603052"/>
            <a:ext cx="2741414" cy="342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Tool Focus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767596" y="1274683"/>
            <a:ext cx="13095208" cy="189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400"/>
              </a:lnSpc>
              <a:buNone/>
            </a:pPr>
            <a:r>
              <a:rPr lang="en-US" sz="59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Streamlit: Interactive App Deployment</a:t>
            </a:r>
            <a:endParaRPr lang="en-US" sz="5950" dirty="0"/>
          </a:p>
        </p:txBody>
      </p:sp>
      <p:sp>
        <p:nvSpPr>
          <p:cNvPr id="4" name="Text 2"/>
          <p:cNvSpPr/>
          <p:nvPr/>
        </p:nvSpPr>
        <p:spPr>
          <a:xfrm>
            <a:off x="767596" y="3692366"/>
            <a:ext cx="4917043" cy="1403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To democratize access to the data, we created a lightweight web application using Streamlit, allowing non-technical users to dynamically explore the findings.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67596" y="5293162"/>
            <a:ext cx="4917043" cy="70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Display of core KPIs (Key Performance Indicators).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67596" y="6071592"/>
            <a:ext cx="4917043" cy="70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Dynamic filtering by date range and product category.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67596" y="6850023"/>
            <a:ext cx="4917043" cy="70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Interactive charts for sales and customer review scores.</a:t>
            </a:r>
            <a:endParaRPr lang="en-US" sz="17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326" y="3741777"/>
            <a:ext cx="7346990" cy="297870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27326" y="6967180"/>
            <a:ext cx="7643098" cy="350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5186" y="420529"/>
            <a:ext cx="1911548" cy="23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Methodology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35186" y="888802"/>
            <a:ext cx="6546771" cy="659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Integrated Data Workflow</a:t>
            </a:r>
            <a:endParaRPr lang="en-US" sz="4150" dirty="0"/>
          </a:p>
        </p:txBody>
      </p:sp>
      <p:sp>
        <p:nvSpPr>
          <p:cNvPr id="4" name="Text 2"/>
          <p:cNvSpPr/>
          <p:nvPr/>
        </p:nvSpPr>
        <p:spPr>
          <a:xfrm>
            <a:off x="535186" y="1777484"/>
            <a:ext cx="13560028" cy="244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Our success was dependent on a smooth, sequential flow of data, ensuring integrity and consistency at every stage of the analysis.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186" y="2193965"/>
            <a:ext cx="764619" cy="9174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52682" y="2346841"/>
            <a:ext cx="1911548" cy="23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Kaggle Data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452682" y="2677478"/>
            <a:ext cx="12642533" cy="244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Raw source files.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186" y="3111460"/>
            <a:ext cx="764619" cy="9174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52682" y="3264337"/>
            <a:ext cx="1911548" cy="23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SQL Cleanup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452682" y="3594973"/>
            <a:ext cx="12642533" cy="244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Data modeling &amp; joins.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186" y="4028956"/>
            <a:ext cx="764619" cy="91749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52682" y="4181832"/>
            <a:ext cx="1911548" cy="23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Python EDA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1452682" y="4512469"/>
            <a:ext cx="12642533" cy="244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Statistical analysis.</a:t>
            </a:r>
            <a:endParaRPr lang="en-US" sz="12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186" y="4946452"/>
            <a:ext cx="764619" cy="91749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452682" y="5099328"/>
            <a:ext cx="1911548" cy="23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Power BI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1452682" y="5429964"/>
            <a:ext cx="12642533" cy="244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Stakeholder reporting.</a:t>
            </a:r>
            <a:endParaRPr lang="en-US" sz="12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5186" y="5863947"/>
            <a:ext cx="764619" cy="91749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452682" y="6016823"/>
            <a:ext cx="1911548" cy="23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Streamlit</a:t>
            </a:r>
            <a:endParaRPr lang="en-US" sz="1500" dirty="0"/>
          </a:p>
        </p:txBody>
      </p:sp>
      <p:sp>
        <p:nvSpPr>
          <p:cNvPr id="19" name="Text 12"/>
          <p:cNvSpPr/>
          <p:nvPr/>
        </p:nvSpPr>
        <p:spPr>
          <a:xfrm>
            <a:off x="1452682" y="6347460"/>
            <a:ext cx="12642533" cy="244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Interactive deployment.</a:t>
            </a:r>
            <a:endParaRPr lang="en-US" sz="12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78385" y="7054334"/>
            <a:ext cx="976670" cy="611624"/>
          </a:xfrm>
          <a:prstGeom prst="rect">
            <a:avLst/>
          </a:prstGeom>
        </p:spPr>
      </p:pic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77332" y="7054334"/>
            <a:ext cx="976670" cy="611624"/>
          </a:xfrm>
          <a:prstGeom prst="rect">
            <a:avLst/>
          </a:prstGeom>
        </p:spPr>
      </p:pic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76279" y="7054334"/>
            <a:ext cx="976670" cy="611624"/>
          </a:xfrm>
          <a:prstGeom prst="rect">
            <a:avLst/>
          </a:prstGeom>
        </p:spPr>
      </p:pic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5226" y="7054334"/>
            <a:ext cx="976670" cy="6116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2553" y="331946"/>
            <a:ext cx="1509236" cy="188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Summary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22553" y="701754"/>
            <a:ext cx="6268045" cy="520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Conclusion and Future Outlook</a:t>
            </a:r>
            <a:endParaRPr lang="en-US" sz="3250" dirty="0"/>
          </a:p>
        </p:txBody>
      </p:sp>
      <p:sp>
        <p:nvSpPr>
          <p:cNvPr id="4" name="Text 2"/>
          <p:cNvSpPr/>
          <p:nvPr/>
        </p:nvSpPr>
        <p:spPr>
          <a:xfrm>
            <a:off x="422553" y="1403509"/>
            <a:ext cx="13785294" cy="193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Olist dataset offered a robust platform to analyze the evolving landscape of Brazilian e-commerce, demonstrating clear pathways for operational improvement and growth.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22553" y="1853089"/>
            <a:ext cx="1811179" cy="226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Key Takeaway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22553" y="2200156"/>
            <a:ext cx="6745367" cy="386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project successfully merged multiple analytical tools to derive actionable insights, highlighting the power of cross-tool data workflow.</a:t>
            </a:r>
            <a:endParaRPr lang="en-US" sz="9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553" y="2722126"/>
            <a:ext cx="6745367" cy="674536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70100" y="1853089"/>
            <a:ext cx="1811179" cy="226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590830" y="2396252"/>
            <a:ext cx="120729" cy="562808"/>
          </a:xfrm>
          <a:prstGeom prst="roundRect">
            <a:avLst>
              <a:gd name="adj" fmla="val 42006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70100" y="2316956"/>
            <a:ext cx="362188" cy="362188"/>
          </a:xfrm>
          <a:prstGeom prst="roundRect">
            <a:avLst>
              <a:gd name="adj" fmla="val 126233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60588" y="2407563"/>
            <a:ext cx="181094" cy="1810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953018" y="2335887"/>
            <a:ext cx="1509236" cy="188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Predictive Modeling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7953018" y="2645331"/>
            <a:ext cx="6262449" cy="193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Develop models to forecast delivery delays.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7771924" y="3261003"/>
            <a:ext cx="120729" cy="562808"/>
          </a:xfrm>
          <a:prstGeom prst="roundRect">
            <a:avLst>
              <a:gd name="adj" fmla="val 42006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651194" y="3181707"/>
            <a:ext cx="362188" cy="362188"/>
          </a:xfrm>
          <a:prstGeom prst="roundRect">
            <a:avLst>
              <a:gd name="adj" fmla="val 126233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41682" y="3272314"/>
            <a:ext cx="181094" cy="18109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34112" y="3200638"/>
            <a:ext cx="2047756" cy="188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Satisfaction Score Modeling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8134112" y="3510082"/>
            <a:ext cx="6081355" cy="193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Identify variables that most influence customer ratings.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7953018" y="4125754"/>
            <a:ext cx="120729" cy="562808"/>
          </a:xfrm>
          <a:prstGeom prst="roundRect">
            <a:avLst>
              <a:gd name="adj" fmla="val 42006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832288" y="4046458"/>
            <a:ext cx="362188" cy="362188"/>
          </a:xfrm>
          <a:prstGeom prst="roundRect">
            <a:avLst>
              <a:gd name="adj" fmla="val 126233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22776" y="4137065"/>
            <a:ext cx="181094" cy="18109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315206" y="4065389"/>
            <a:ext cx="1976199" cy="188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Recommendation Systems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8315206" y="4374832"/>
            <a:ext cx="5900261" cy="193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Build personalized product suggestion engines.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422553" y="9738955"/>
            <a:ext cx="13785294" cy="193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Thank You.</a:t>
            </a: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</TotalTime>
  <Words>546</Words>
  <Application>Microsoft Office PowerPoint</Application>
  <PresentationFormat>Custom</PresentationFormat>
  <Paragraphs>88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Funnel Sans</vt:lpstr>
      <vt:lpstr>Mona Sans Semi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Mohamed Ataa Mohamed Albasal</cp:lastModifiedBy>
  <cp:revision>1</cp:revision>
  <dcterms:created xsi:type="dcterms:W3CDTF">2025-10-20T11:05:27Z</dcterms:created>
  <dcterms:modified xsi:type="dcterms:W3CDTF">2025-10-20T18:08:05Z</dcterms:modified>
</cp:coreProperties>
</file>